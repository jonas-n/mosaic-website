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s/slide5.xml" ContentType="application/vnd.openxmlformats-officedocument.presentationml.slide+xml"/>
  <Override PartName="/ppt/slides/slide3.xml" ContentType="application/vnd.openxmlformats-officedocument.presentationml.slide+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61" r:id="rId2"/>
    <p:sldId id="262" r:id="rId3"/>
    <p:sldId id="264" r:id="rId4"/>
    <p:sldId id="265" r:id="rId5"/>
    <p:sldId id="269" r:id="rId6"/>
    <p:sldId id="271" r:id="rId7"/>
    <p:sldId id="270" r:id="rId8"/>
    <p:sldId id="266" r:id="rId9"/>
    <p:sldId id="26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2" autoAdjust="0"/>
    <p:restoredTop sz="94660"/>
  </p:normalViewPr>
  <p:slideViewPr>
    <p:cSldViewPr snapToGrid="0">
      <p:cViewPr varScale="1">
        <p:scale>
          <a:sx n="122" d="100"/>
          <a:sy n="122" d="100"/>
        </p:scale>
        <p:origin x="96" y="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ACCE69-B8F1-40D0-B8C4-AB7D7816767E}" type="datetimeFigureOut">
              <a:rPr lang="en-US" smtClean="0"/>
              <a:t>4/30/2023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657657-E2FB-4C8D-B735-633C5BB7BDAE}" type="slidenum">
              <a:rPr lang="en-US" smtClean="0"/>
              <a:t>‹#›</a:t>
            </a:fld>
            <a:endParaRPr lang="en-US"/>
          </a:p>
        </p:txBody>
      </p:sp>
    </p:spTree>
    <p:extLst>
      <p:ext uri="{BB962C8B-B14F-4D97-AF65-F5344CB8AC3E}">
        <p14:creationId xmlns:p14="http://schemas.microsoft.com/office/powerpoint/2010/main" val="891052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BBA934F-A9A2-4E3E-A5D0-CF8DB033F4ED}" type="datetimeFigureOut">
              <a:rPr lang="en-US" smtClean="0"/>
              <a:t>4/30/2023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7C3A58-F1D5-4096-8F94-F11342B412FE}" type="slidenum">
              <a:rPr lang="en-US" smtClean="0"/>
              <a:t>‹#›</a:t>
            </a:fld>
            <a:endParaRPr lang="en-US"/>
          </a:p>
        </p:txBody>
      </p:sp>
    </p:spTree>
    <p:extLst>
      <p:ext uri="{BB962C8B-B14F-4D97-AF65-F5344CB8AC3E}">
        <p14:creationId xmlns:p14="http://schemas.microsoft.com/office/powerpoint/2010/main" val="396925931"/>
      </p:ext>
    </p:extLst>
  </p:cSld>
  <p:clrMapOvr>
    <a:masterClrMapping/>
  </p:clrMapOvr>
  <p:transition spd="slow">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BA934F-A9A2-4E3E-A5D0-CF8DB033F4ED}" type="datetimeFigureOut">
              <a:rPr lang="en-US" smtClean="0"/>
              <a:t>4/30/2023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7C3A58-F1D5-4096-8F94-F11342B412FE}" type="slidenum">
              <a:rPr lang="en-US" smtClean="0"/>
              <a:t>‹#›</a:t>
            </a:fld>
            <a:endParaRPr lang="en-US"/>
          </a:p>
        </p:txBody>
      </p:sp>
    </p:spTree>
    <p:extLst>
      <p:ext uri="{BB962C8B-B14F-4D97-AF65-F5344CB8AC3E}">
        <p14:creationId xmlns:p14="http://schemas.microsoft.com/office/powerpoint/2010/main" val="1411245622"/>
      </p:ext>
    </p:extLst>
  </p:cSld>
  <p:clrMapOvr>
    <a:masterClrMapping/>
  </p:clrMapOvr>
  <p:transition spd="slow">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BBA934F-A9A2-4E3E-A5D0-CF8DB033F4ED}" type="datetimeFigureOut">
              <a:rPr lang="en-US" smtClean="0"/>
              <a:t>4/30/2023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7C3A58-F1D5-4096-8F94-F11342B412FE}" type="slidenum">
              <a:rPr lang="en-US" smtClean="0"/>
              <a:t>‹#›</a:t>
            </a:fld>
            <a:endParaRPr lang="en-US"/>
          </a:p>
        </p:txBody>
      </p:sp>
    </p:spTree>
    <p:extLst>
      <p:ext uri="{BB962C8B-B14F-4D97-AF65-F5344CB8AC3E}">
        <p14:creationId xmlns:p14="http://schemas.microsoft.com/office/powerpoint/2010/main" val="3962024694"/>
      </p:ext>
    </p:extLst>
  </p:cSld>
  <p:clrMapOvr>
    <a:masterClrMapping/>
  </p:clrMapOvr>
  <p:transition spd="slow">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BBA934F-A9A2-4E3E-A5D0-CF8DB033F4ED}" type="datetimeFigureOut">
              <a:rPr lang="en-US" smtClean="0"/>
              <a:t>4/30/2023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7C3A58-F1D5-4096-8F94-F11342B412FE}" type="slidenum">
              <a:rPr lang="en-US" smtClean="0"/>
              <a:t>‹#›</a:t>
            </a:fld>
            <a:endParaRPr lang="en-US"/>
          </a:p>
        </p:txBody>
      </p:sp>
    </p:spTree>
    <p:extLst>
      <p:ext uri="{BB962C8B-B14F-4D97-AF65-F5344CB8AC3E}">
        <p14:creationId xmlns:p14="http://schemas.microsoft.com/office/powerpoint/2010/main" val="2876928695"/>
      </p:ext>
    </p:extLst>
  </p:cSld>
  <p:clrMapOvr>
    <a:masterClrMapping/>
  </p:clrMapOvr>
  <p:transition spd="slow">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BBA934F-A9A2-4E3E-A5D0-CF8DB033F4ED}" type="datetimeFigureOut">
              <a:rPr lang="en-US" smtClean="0"/>
              <a:t>4/30/2023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7C3A58-F1D5-4096-8F94-F11342B412FE}" type="slidenum">
              <a:rPr lang="en-US" smtClean="0"/>
              <a:t>‹#›</a:t>
            </a:fld>
            <a:endParaRPr lang="en-US"/>
          </a:p>
        </p:txBody>
      </p:sp>
    </p:spTree>
    <p:extLst>
      <p:ext uri="{BB962C8B-B14F-4D97-AF65-F5344CB8AC3E}">
        <p14:creationId xmlns:p14="http://schemas.microsoft.com/office/powerpoint/2010/main" val="3530788268"/>
      </p:ext>
    </p:extLst>
  </p:cSld>
  <p:clrMapOvr>
    <a:masterClrMapping/>
  </p:clrMapOvr>
  <p:transition spd="slow">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BBA934F-A9A2-4E3E-A5D0-CF8DB033F4ED}" type="datetimeFigureOut">
              <a:rPr lang="en-US" smtClean="0"/>
              <a:t>4/30/2023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7C3A58-F1D5-4096-8F94-F11342B412FE}" type="slidenum">
              <a:rPr lang="en-US" smtClean="0"/>
              <a:t>‹#›</a:t>
            </a:fld>
            <a:endParaRPr lang="en-US"/>
          </a:p>
        </p:txBody>
      </p:sp>
    </p:spTree>
    <p:extLst>
      <p:ext uri="{BB962C8B-B14F-4D97-AF65-F5344CB8AC3E}">
        <p14:creationId xmlns:p14="http://schemas.microsoft.com/office/powerpoint/2010/main" val="460735359"/>
      </p:ext>
    </p:extLst>
  </p:cSld>
  <p:clrMapOvr>
    <a:masterClrMapping/>
  </p:clrMapOvr>
  <p:transition spd="slow">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BA934F-A9A2-4E3E-A5D0-CF8DB033F4ED}" type="datetimeFigureOut">
              <a:rPr lang="en-US" smtClean="0"/>
              <a:t>4/30/2023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27C3A58-F1D5-4096-8F94-F11342B412FE}" type="slidenum">
              <a:rPr lang="en-US" smtClean="0"/>
              <a:t>‹#›</a:t>
            </a:fld>
            <a:endParaRPr lang="en-US"/>
          </a:p>
        </p:txBody>
      </p:sp>
    </p:spTree>
    <p:extLst>
      <p:ext uri="{BB962C8B-B14F-4D97-AF65-F5344CB8AC3E}">
        <p14:creationId xmlns:p14="http://schemas.microsoft.com/office/powerpoint/2010/main" val="1886266290"/>
      </p:ext>
    </p:extLst>
  </p:cSld>
  <p:clrMapOvr>
    <a:masterClrMapping/>
  </p:clrMapOvr>
  <p:transition spd="slow">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BBA934F-A9A2-4E3E-A5D0-CF8DB033F4ED}" type="datetimeFigureOut">
              <a:rPr lang="en-US" smtClean="0"/>
              <a:t>4/30/2023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7C3A58-F1D5-4096-8F94-F11342B412FE}" type="slidenum">
              <a:rPr lang="en-US" smtClean="0"/>
              <a:t>‹#›</a:t>
            </a:fld>
            <a:endParaRPr lang="en-US"/>
          </a:p>
        </p:txBody>
      </p:sp>
    </p:spTree>
    <p:extLst>
      <p:ext uri="{BB962C8B-B14F-4D97-AF65-F5344CB8AC3E}">
        <p14:creationId xmlns:p14="http://schemas.microsoft.com/office/powerpoint/2010/main" val="2402777997"/>
      </p:ext>
    </p:extLst>
  </p:cSld>
  <p:clrMapOvr>
    <a:masterClrMapping/>
  </p:clrMapOvr>
  <p:transition spd="slow">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BBA934F-A9A2-4E3E-A5D0-CF8DB033F4ED}" type="datetimeFigureOut">
              <a:rPr lang="en-US" smtClean="0"/>
              <a:t>4/30/2023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7C3A58-F1D5-4096-8F94-F11342B412FE}" type="slidenum">
              <a:rPr lang="en-US" smtClean="0"/>
              <a:t>‹#›</a:t>
            </a:fld>
            <a:endParaRPr lang="en-US"/>
          </a:p>
        </p:txBody>
      </p:sp>
    </p:spTree>
    <p:extLst>
      <p:ext uri="{BB962C8B-B14F-4D97-AF65-F5344CB8AC3E}">
        <p14:creationId xmlns:p14="http://schemas.microsoft.com/office/powerpoint/2010/main" val="3283874983"/>
      </p:ext>
    </p:extLst>
  </p:cSld>
  <p:clrMapOvr>
    <a:masterClrMapping/>
  </p:clrMapOvr>
  <p:transition spd="slow">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BA934F-A9A2-4E3E-A5D0-CF8DB033F4ED}" type="datetimeFigureOut">
              <a:rPr lang="en-US" smtClean="0"/>
              <a:t>4/30/2023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7C3A58-F1D5-4096-8F94-F11342B412FE}" type="slidenum">
              <a:rPr lang="en-US" smtClean="0"/>
              <a:t>‹#›</a:t>
            </a:fld>
            <a:endParaRPr lang="en-US"/>
          </a:p>
        </p:txBody>
      </p:sp>
    </p:spTree>
    <p:extLst>
      <p:ext uri="{BB962C8B-B14F-4D97-AF65-F5344CB8AC3E}">
        <p14:creationId xmlns:p14="http://schemas.microsoft.com/office/powerpoint/2010/main" val="498190746"/>
      </p:ext>
    </p:extLst>
  </p:cSld>
  <p:clrMapOvr>
    <a:masterClrMapping/>
  </p:clrMapOvr>
  <p:transition spd="slow">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BA934F-A9A2-4E3E-A5D0-CF8DB033F4ED}" type="datetimeFigureOut">
              <a:rPr lang="en-US" smtClean="0"/>
              <a:t>4/30/2023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7C3A58-F1D5-4096-8F94-F11342B412FE}" type="slidenum">
              <a:rPr lang="en-US" smtClean="0"/>
              <a:t>‹#›</a:t>
            </a:fld>
            <a:endParaRPr lang="en-US"/>
          </a:p>
        </p:txBody>
      </p:sp>
    </p:spTree>
    <p:extLst>
      <p:ext uri="{BB962C8B-B14F-4D97-AF65-F5344CB8AC3E}">
        <p14:creationId xmlns:p14="http://schemas.microsoft.com/office/powerpoint/2010/main" val="2848212013"/>
      </p:ext>
    </p:extLst>
  </p:cSld>
  <p:clrMapOvr>
    <a:masterClrMapping/>
  </p:clrMapOvr>
  <p:transition spd="slow">
    <p:fade thruBlk="1"/>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 name="Google Shape;20;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21" name="Google Shape;21;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752551499"/>
      </p:ext>
    </p:extLst>
  </p:cSld>
  <p:clrMapOvr>
    <a:masterClrMapping/>
  </p:clrMapOvr>
  <p:transition spd="slow">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alpha val="30000"/>
                <a:lumMod val="0"/>
                <a:lumOff val="10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BA934F-A9A2-4E3E-A5D0-CF8DB033F4ED}" type="datetimeFigureOut">
              <a:rPr lang="en-US" smtClean="0"/>
              <a:t>4/30/2023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7C3A58-F1D5-4096-8F94-F11342B412FE}" type="slidenum">
              <a:rPr lang="en-US" smtClean="0"/>
              <a:t>‹#›</a:t>
            </a:fld>
            <a:endParaRPr lang="en-US"/>
          </a:p>
        </p:txBody>
      </p:sp>
    </p:spTree>
    <p:extLst>
      <p:ext uri="{BB962C8B-B14F-4D97-AF65-F5344CB8AC3E}">
        <p14:creationId xmlns:p14="http://schemas.microsoft.com/office/powerpoint/2010/main" val="24189436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p:fade thruBlk="1"/>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youtube.com/watch?v=ZprdmeC7u9k&amp;t=115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784" y="1968874"/>
            <a:ext cx="11980985" cy="1297956"/>
          </a:xfrm>
        </p:spPr>
        <p:txBody>
          <a:bodyPr>
            <a:noAutofit/>
          </a:bodyPr>
          <a:lstStyle/>
          <a:p>
            <a:pPr algn="ctr"/>
            <a:r>
              <a:rPr lang="en-US" sz="4800" dirty="0">
                <a:latin typeface="Arial Black" panose="020B0A04020102020204" pitchFamily="34" charset="0"/>
                <a:cs typeface="David" panose="020E0502060401010101" pitchFamily="34" charset="-79"/>
              </a:rPr>
              <a:t>An Overview of Listening </a:t>
            </a:r>
            <a:r>
              <a:rPr lang="en-US" sz="4800" dirty="0" smtClean="0">
                <a:latin typeface="Arial Black" panose="020B0A04020102020204" pitchFamily="34" charset="0"/>
                <a:cs typeface="David" panose="020E0502060401010101" pitchFamily="34" charset="-79"/>
              </a:rPr>
              <a:t>Research</a:t>
            </a:r>
            <a:br>
              <a:rPr lang="en-US" sz="4800" dirty="0" smtClean="0">
                <a:latin typeface="Arial Black" panose="020B0A04020102020204" pitchFamily="34" charset="0"/>
                <a:cs typeface="David" panose="020E0502060401010101" pitchFamily="34" charset="-79"/>
              </a:rPr>
            </a:br>
            <a:r>
              <a:rPr lang="en-US" sz="4800" dirty="0">
                <a:latin typeface="Arial Black" panose="020B0A04020102020204" pitchFamily="34" charset="0"/>
                <a:cs typeface="David" panose="020E0502060401010101" pitchFamily="34" charset="-79"/>
              </a:rPr>
              <a:t/>
            </a:r>
            <a:br>
              <a:rPr lang="en-US" sz="4800" dirty="0">
                <a:latin typeface="Arial Black" panose="020B0A04020102020204" pitchFamily="34" charset="0"/>
                <a:cs typeface="David" panose="020E0502060401010101" pitchFamily="34" charset="-79"/>
              </a:rPr>
            </a:br>
            <a:r>
              <a:rPr lang="en-US" sz="4800" b="1" dirty="0">
                <a:solidFill>
                  <a:srgbClr val="7030A0"/>
                </a:solidFill>
                <a:latin typeface="Arial Black" panose="020B0A04020102020204" pitchFamily="34" charset="0"/>
              </a:rPr>
              <a:t>Prof. Guy Itzchakov</a:t>
            </a:r>
            <a:br>
              <a:rPr lang="en-US" sz="4800" b="1" dirty="0">
                <a:solidFill>
                  <a:srgbClr val="7030A0"/>
                </a:solidFill>
                <a:latin typeface="Arial Black" panose="020B0A04020102020204" pitchFamily="34" charset="0"/>
              </a:rPr>
            </a:br>
            <a:r>
              <a:rPr lang="en-US" sz="4800" b="1" dirty="0">
                <a:solidFill>
                  <a:srgbClr val="7030A0"/>
                </a:solidFill>
                <a:latin typeface="Arial Black" panose="020B0A04020102020204" pitchFamily="34" charset="0"/>
              </a:rPr>
              <a:t>University of Haifa </a:t>
            </a:r>
            <a:br>
              <a:rPr lang="en-US" sz="4800" b="1" dirty="0">
                <a:solidFill>
                  <a:srgbClr val="7030A0"/>
                </a:solidFill>
                <a:latin typeface="Arial Black" panose="020B0A04020102020204" pitchFamily="34" charset="0"/>
              </a:rPr>
            </a:br>
            <a:r>
              <a:rPr lang="en-US" sz="4800" dirty="0" smtClean="0">
                <a:latin typeface="Arial Black" panose="020B0A04020102020204" pitchFamily="34" charset="0"/>
                <a:cs typeface="David" panose="020E0502060401010101" pitchFamily="34" charset="-79"/>
              </a:rPr>
              <a:t> </a:t>
            </a:r>
            <a:endParaRPr lang="en-US" sz="4800" dirty="0">
              <a:latin typeface="Arial Black" panose="020B0A04020102020204" pitchFamily="34" charset="0"/>
              <a:cs typeface="David" panose="020E0502060401010101" pitchFamily="34" charset="-79"/>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42580" y="5390497"/>
            <a:ext cx="2749420" cy="1467503"/>
          </a:xfrm>
          <a:prstGeom prst="rect">
            <a:avLst/>
          </a:prstGeom>
        </p:spPr>
      </p:pic>
    </p:spTree>
    <p:extLst>
      <p:ext uri="{BB962C8B-B14F-4D97-AF65-F5344CB8AC3E}">
        <p14:creationId xmlns:p14="http://schemas.microsoft.com/office/powerpoint/2010/main" val="3159769664"/>
      </p:ext>
    </p:extLst>
  </p:cSld>
  <p:clrMapOvr>
    <a:masterClrMapping/>
  </p:clrMapOvr>
  <p:transition spd="slow">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893" y="277455"/>
            <a:ext cx="11360800" cy="763600"/>
          </a:xfrm>
        </p:spPr>
        <p:txBody>
          <a:bodyPr>
            <a:noAutofit/>
          </a:bodyPr>
          <a:lstStyle/>
          <a:p>
            <a:pPr algn="ctr"/>
            <a:r>
              <a:rPr lang="en-US" dirty="0" smtClean="0">
                <a:solidFill>
                  <a:srgbClr val="7030A0"/>
                </a:solidFill>
                <a:latin typeface="Arial Black" panose="020B0A04020102020204" pitchFamily="34" charset="0"/>
                <a:cs typeface="David" panose="020E0502060401010101" pitchFamily="34" charset="-79"/>
              </a:rPr>
              <a:t>(Correcting) </a:t>
            </a:r>
            <a:r>
              <a:rPr lang="en-US" dirty="0">
                <a:solidFill>
                  <a:srgbClr val="7030A0"/>
                </a:solidFill>
                <a:latin typeface="Arial Black" panose="020B0A04020102020204" pitchFamily="34" charset="0"/>
                <a:cs typeface="David" panose="020E0502060401010101" pitchFamily="34" charset="-79"/>
              </a:rPr>
              <a:t>M</a:t>
            </a:r>
            <a:r>
              <a:rPr lang="en-US" dirty="0" smtClean="0">
                <a:solidFill>
                  <a:srgbClr val="7030A0"/>
                </a:solidFill>
                <a:latin typeface="Arial Black" panose="020B0A04020102020204" pitchFamily="34" charset="0"/>
                <a:cs typeface="David" panose="020E0502060401010101" pitchFamily="34" charset="-79"/>
              </a:rPr>
              <a:t>isperceptions </a:t>
            </a:r>
            <a:endParaRPr lang="en-US" dirty="0">
              <a:solidFill>
                <a:srgbClr val="7030A0"/>
              </a:solidFill>
              <a:latin typeface="Arial Black" panose="020B0A04020102020204" pitchFamily="34" charset="0"/>
              <a:cs typeface="David" panose="020E0502060401010101" pitchFamily="34" charset="-79"/>
            </a:endParaRPr>
          </a:p>
        </p:txBody>
      </p:sp>
      <p:sp>
        <p:nvSpPr>
          <p:cNvPr id="3" name="Text Placeholder 2"/>
          <p:cNvSpPr>
            <a:spLocks noGrp="1"/>
          </p:cNvSpPr>
          <p:nvPr>
            <p:ph type="body" idx="1"/>
          </p:nvPr>
        </p:nvSpPr>
        <p:spPr>
          <a:xfrm>
            <a:off x="101600" y="1281723"/>
            <a:ext cx="11996615" cy="4810110"/>
          </a:xfrm>
        </p:spPr>
        <p:txBody>
          <a:bodyPr/>
          <a:lstStyle/>
          <a:p>
            <a:pPr marL="666746" indent="-514350">
              <a:buAutoNum type="arabicPeriod"/>
            </a:pPr>
            <a:r>
              <a:rPr lang="en-US" dirty="0" smtClean="0"/>
              <a:t>The listener is a passive actor, and the speaker determines the direction of the conversation. </a:t>
            </a:r>
          </a:p>
          <a:p>
            <a:pPr marL="666746" indent="-514350">
              <a:buAutoNum type="arabicPeriod"/>
            </a:pPr>
            <a:endParaRPr lang="en-US" dirty="0" smtClean="0"/>
          </a:p>
          <a:p>
            <a:pPr marL="666746" indent="-514350">
              <a:buAutoNum type="arabicPeriod"/>
            </a:pPr>
            <a:r>
              <a:rPr lang="en-US" dirty="0" smtClean="0"/>
              <a:t>Listening = smiling and nodding your head. </a:t>
            </a:r>
          </a:p>
          <a:p>
            <a:pPr marL="666746" indent="-514350">
              <a:buAutoNum type="arabicPeriod"/>
            </a:pPr>
            <a:endParaRPr lang="en-US" dirty="0"/>
          </a:p>
          <a:p>
            <a:pPr marL="666746" indent="-514350">
              <a:buAutoNum type="arabicPeriod"/>
            </a:pPr>
            <a:r>
              <a:rPr lang="en-US" dirty="0" smtClean="0"/>
              <a:t>Listening is easy to define.</a:t>
            </a:r>
          </a:p>
          <a:p>
            <a:pPr marL="666746" indent="-514350">
              <a:buAutoNum type="arabicPeriod"/>
            </a:pPr>
            <a:endParaRPr lang="en-US" dirty="0"/>
          </a:p>
          <a:p>
            <a:pPr marL="666746" indent="-514350">
              <a:buAutoNum type="arabicPeriod"/>
            </a:pPr>
            <a:r>
              <a:rPr lang="en-US" dirty="0"/>
              <a:t>Listening is easy and requires little </a:t>
            </a:r>
            <a:r>
              <a:rPr lang="en-US" dirty="0" smtClean="0"/>
              <a:t>energy.</a:t>
            </a:r>
          </a:p>
          <a:p>
            <a:pPr marL="666746" indent="-514350">
              <a:buAutoNum type="arabicPeriod"/>
            </a:pPr>
            <a:endParaRPr lang="en-US" dirty="0"/>
          </a:p>
          <a:p>
            <a:pPr marL="666746" indent="-514350">
              <a:buAutoNum type="arabicPeriod"/>
            </a:pPr>
            <a:r>
              <a:rPr lang="en-US" dirty="0" smtClean="0"/>
              <a:t>Listening = Hearing (“I heard you”)   </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9108" y="1789722"/>
            <a:ext cx="539261" cy="443523"/>
          </a:xfrm>
          <a:prstGeom prst="rect">
            <a:avLst/>
          </a:prstGeom>
        </p:spPr>
      </p:pic>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76830" y="2512645"/>
            <a:ext cx="539261" cy="443523"/>
          </a:xfrm>
          <a:prstGeom prst="rect">
            <a:avLst/>
          </a:prstGeom>
        </p:spPr>
      </p:pic>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28307" y="3251395"/>
            <a:ext cx="539261" cy="443523"/>
          </a:xfrm>
          <a:prstGeom prst="rect">
            <a:avLst/>
          </a:prstGeom>
        </p:spPr>
      </p:pic>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69013" y="4080477"/>
            <a:ext cx="539261" cy="443523"/>
          </a:xfrm>
          <a:prstGeom prst="rect">
            <a:avLst/>
          </a:prstGeom>
        </p:spPr>
      </p:pic>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86583" y="4834662"/>
            <a:ext cx="539261" cy="443523"/>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42580" y="5486400"/>
            <a:ext cx="2749420" cy="1371600"/>
          </a:xfrm>
          <a:prstGeom prst="rect">
            <a:avLst/>
          </a:prstGeom>
        </p:spPr>
      </p:pic>
    </p:spTree>
    <p:extLst>
      <p:ext uri="{BB962C8B-B14F-4D97-AF65-F5344CB8AC3E}">
        <p14:creationId xmlns:p14="http://schemas.microsoft.com/office/powerpoint/2010/main" val="3621300329"/>
      </p:ext>
    </p:extLst>
  </p:cSld>
  <p:clrMapOvr>
    <a:masterClrMapping/>
  </p:clrMapOvr>
  <p:transition spd="slow">
    <p:fade thruBlk="1"/>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385" y="230188"/>
            <a:ext cx="11816861" cy="470898"/>
          </a:xfrm>
        </p:spPr>
        <p:txBody>
          <a:bodyPr>
            <a:noAutofit/>
          </a:bodyPr>
          <a:lstStyle/>
          <a:p>
            <a:pPr algn="ctr" rtl="0"/>
            <a:r>
              <a:rPr lang="en-US" sz="3600" dirty="0" smtClean="0">
                <a:latin typeface="Arial Black" panose="020B0A04020102020204" pitchFamily="34" charset="0"/>
                <a:cs typeface="David" panose="020E0502060401010101" pitchFamily="34" charset="-79"/>
              </a:rPr>
              <a:t>Listening: Holistic yet complex</a:t>
            </a:r>
            <a:endParaRPr lang="en-US" sz="3600" dirty="0">
              <a:latin typeface="Arial Black" panose="020B0A04020102020204" pitchFamily="34" charset="0"/>
              <a:cs typeface="David" panose="020E0502060401010101" pitchFamily="34" charset="-79"/>
            </a:endParaRPr>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5723" y="820615"/>
            <a:ext cx="11543323" cy="5033107"/>
          </a:xfrm>
          <a:prstGeom prst="rect">
            <a:avLst/>
          </a:prstGeom>
          <a:noFill/>
          <a:ln>
            <a:noFill/>
          </a:ln>
        </p:spPr>
      </p:pic>
      <p:sp>
        <p:nvSpPr>
          <p:cNvPr id="5" name="TextBox 4"/>
          <p:cNvSpPr txBox="1"/>
          <p:nvPr/>
        </p:nvSpPr>
        <p:spPr>
          <a:xfrm>
            <a:off x="195385" y="5963194"/>
            <a:ext cx="11816861" cy="707886"/>
          </a:xfrm>
          <a:prstGeom prst="rect">
            <a:avLst/>
          </a:prstGeom>
          <a:noFill/>
        </p:spPr>
        <p:txBody>
          <a:bodyPr wrap="square" rtlCol="0">
            <a:spAutoFit/>
          </a:bodyPr>
          <a:lstStyle/>
          <a:p>
            <a:r>
              <a:rPr lang="en-US" sz="2000" dirty="0"/>
              <a:t>Kluger, A. N., &amp; Itzchakov, G. (2022). The Power of Listening at Work. </a:t>
            </a:r>
            <a:r>
              <a:rPr lang="en-US" sz="2000" i="1" dirty="0"/>
              <a:t>Annual Review of Organizational Psychology and Organizational Behavior, 9</a:t>
            </a:r>
            <a:r>
              <a:rPr lang="en-US" sz="2000" dirty="0"/>
              <a:t>, 121-146. </a:t>
            </a:r>
          </a:p>
        </p:txBody>
      </p:sp>
    </p:spTree>
    <p:extLst>
      <p:ext uri="{BB962C8B-B14F-4D97-AF65-F5344CB8AC3E}">
        <p14:creationId xmlns:p14="http://schemas.microsoft.com/office/powerpoint/2010/main" val="2451466903"/>
      </p:ext>
    </p:extLst>
  </p:cSld>
  <p:clrMapOvr>
    <a:masterClrMapping/>
  </p:clrMapOvr>
  <p:transition spd="slow">
    <p:fade thruBlk="1"/>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1965354" cy="1166691"/>
          </a:xfrm>
        </p:spPr>
        <p:txBody>
          <a:bodyPr>
            <a:noAutofit/>
          </a:bodyPr>
          <a:lstStyle/>
          <a:p>
            <a:pPr algn="ctr"/>
            <a:r>
              <a:rPr lang="en-US" sz="2800" b="1" dirty="0" smtClean="0">
                <a:solidFill>
                  <a:srgbClr val="FF0000"/>
                </a:solidFill>
                <a:latin typeface="Arial Black" panose="020B0A04020102020204" pitchFamily="34" charset="0"/>
              </a:rPr>
              <a:t>Why is listening relevant to human flourishing? </a:t>
            </a:r>
            <a:br>
              <a:rPr lang="en-US" sz="2800" b="1" dirty="0" smtClean="0">
                <a:solidFill>
                  <a:srgbClr val="FF0000"/>
                </a:solidFill>
                <a:latin typeface="Arial Black" panose="020B0A04020102020204" pitchFamily="34" charset="0"/>
              </a:rPr>
            </a:br>
            <a:r>
              <a:rPr lang="en-US" sz="2800" b="1" dirty="0" smtClean="0">
                <a:solidFill>
                  <a:srgbClr val="FF0000"/>
                </a:solidFill>
                <a:latin typeface="Arial Black" panose="020B0A04020102020204" pitchFamily="34" charset="0"/>
              </a:rPr>
              <a:t>(some) evidence </a:t>
            </a:r>
            <a:endParaRPr lang="en-US" sz="2800" b="1" dirty="0">
              <a:solidFill>
                <a:srgbClr val="FF0000"/>
              </a:solidFill>
              <a:latin typeface="Arial Black" panose="020B0A04020102020204" pitchFamily="34" charset="0"/>
            </a:endParaRPr>
          </a:p>
        </p:txBody>
      </p:sp>
      <p:sp>
        <p:nvSpPr>
          <p:cNvPr id="3" name="Content Placeholder 2"/>
          <p:cNvSpPr>
            <a:spLocks noGrp="1"/>
          </p:cNvSpPr>
          <p:nvPr>
            <p:ph idx="1"/>
          </p:nvPr>
        </p:nvSpPr>
        <p:spPr>
          <a:xfrm>
            <a:off x="113323" y="1086338"/>
            <a:ext cx="12078676" cy="5681785"/>
          </a:xfrm>
        </p:spPr>
        <p:txBody>
          <a:bodyPr>
            <a:normAutofit/>
          </a:bodyPr>
          <a:lstStyle/>
          <a:p>
            <a:pPr marL="0" indent="0">
              <a:buNone/>
            </a:pPr>
            <a:r>
              <a:rPr lang="en-US" sz="1800" b="1" dirty="0" smtClean="0"/>
              <a:t>Parents who listen well to adolescents disclosing negative experiences increase adolescents’ well-being (Weinstein, </a:t>
            </a:r>
            <a:r>
              <a:rPr lang="en-US" sz="1800" b="1" dirty="0" err="1" smtClean="0"/>
              <a:t>Huo</a:t>
            </a:r>
            <a:r>
              <a:rPr lang="en-US" sz="1800" b="1" dirty="0" smtClean="0"/>
              <a:t> &amp; Itzchakov, 2021). </a:t>
            </a:r>
          </a:p>
          <a:p>
            <a:pPr marL="0" indent="0">
              <a:buNone/>
            </a:pPr>
            <a:r>
              <a:rPr lang="en-US" sz="1800" b="1" dirty="0">
                <a:solidFill>
                  <a:srgbClr val="7030A0"/>
                </a:solidFill>
              </a:rPr>
              <a:t>A</a:t>
            </a:r>
            <a:r>
              <a:rPr lang="en-US" sz="1800" b="1" dirty="0" smtClean="0">
                <a:solidFill>
                  <a:srgbClr val="7030A0"/>
                </a:solidFill>
              </a:rPr>
              <a:t>dolescents </a:t>
            </a:r>
            <a:r>
              <a:rPr lang="en-US" sz="1800" b="1" dirty="0">
                <a:solidFill>
                  <a:srgbClr val="7030A0"/>
                </a:solidFill>
              </a:rPr>
              <a:t>and early adults construct more meaning-laden, interpretive accounts of their everyday experiences when they converse with </a:t>
            </a:r>
            <a:r>
              <a:rPr lang="en-US" sz="1800" b="1" dirty="0" smtClean="0">
                <a:solidFill>
                  <a:srgbClr val="7030A0"/>
                </a:solidFill>
              </a:rPr>
              <a:t>a good listener (</a:t>
            </a:r>
            <a:r>
              <a:rPr lang="en-US" sz="1800" b="1" dirty="0" err="1" smtClean="0">
                <a:solidFill>
                  <a:srgbClr val="7030A0"/>
                </a:solidFill>
              </a:rPr>
              <a:t>Pasupathi</a:t>
            </a:r>
            <a:r>
              <a:rPr lang="en-US" sz="1800" b="1" dirty="0" smtClean="0">
                <a:solidFill>
                  <a:srgbClr val="7030A0"/>
                </a:solidFill>
              </a:rPr>
              <a:t> &amp; Hoyt, 2009). </a:t>
            </a:r>
            <a:endParaRPr lang="en-US" sz="1800" b="1" dirty="0">
              <a:solidFill>
                <a:srgbClr val="7030A0"/>
              </a:solidFill>
            </a:endParaRPr>
          </a:p>
          <a:p>
            <a:pPr marL="0" indent="0">
              <a:buNone/>
            </a:pPr>
            <a:r>
              <a:rPr lang="en-US" sz="1800" b="1" dirty="0" smtClean="0"/>
              <a:t>Speakers who receive high-quality listening when sharing an experience of social rejection experience less state loneliness (Itzchakov, Weinstein, Saluk &amp; Amar, 2022). </a:t>
            </a:r>
            <a:endParaRPr lang="en-US" sz="1800" b="1" dirty="0"/>
          </a:p>
          <a:p>
            <a:pPr marL="0" indent="0">
              <a:buNone/>
            </a:pPr>
            <a:r>
              <a:rPr lang="en-US" sz="1800" b="1" dirty="0" smtClean="0">
                <a:solidFill>
                  <a:srgbClr val="7030A0"/>
                </a:solidFill>
              </a:rPr>
              <a:t>Listening increases humility for both listeners and speakers (Lehman, Kluger &amp; </a:t>
            </a:r>
            <a:r>
              <a:rPr lang="en-US" sz="1800" b="1" dirty="0">
                <a:solidFill>
                  <a:srgbClr val="7030A0"/>
                </a:solidFill>
              </a:rPr>
              <a:t>Van </a:t>
            </a:r>
            <a:r>
              <a:rPr lang="en-US" sz="1800" b="1" dirty="0" err="1">
                <a:solidFill>
                  <a:srgbClr val="7030A0"/>
                </a:solidFill>
              </a:rPr>
              <a:t>Tongeren</a:t>
            </a:r>
            <a:r>
              <a:rPr lang="en-US" sz="1800" b="1" dirty="0">
                <a:solidFill>
                  <a:srgbClr val="7030A0"/>
                </a:solidFill>
              </a:rPr>
              <a:t>, 2021</a:t>
            </a:r>
            <a:r>
              <a:rPr lang="en-US" sz="1800" b="1" dirty="0" smtClean="0">
                <a:solidFill>
                  <a:srgbClr val="7030A0"/>
                </a:solidFill>
              </a:rPr>
              <a:t>). </a:t>
            </a:r>
          </a:p>
          <a:p>
            <a:pPr marL="0" indent="0">
              <a:buNone/>
            </a:pPr>
            <a:r>
              <a:rPr lang="en-US" sz="1800" b="1" dirty="0" smtClean="0"/>
              <a:t>Principals who listen well to their teachers reduce their turnover intentions (Rave, Itzchakov, Weinstein &amp; Reis, 2022). </a:t>
            </a:r>
          </a:p>
          <a:p>
            <a:pPr marL="0" indent="0">
              <a:buNone/>
            </a:pPr>
            <a:r>
              <a:rPr lang="en-US" sz="1800" b="1" dirty="0" smtClean="0">
                <a:solidFill>
                  <a:srgbClr val="7030A0"/>
                </a:solidFill>
              </a:rPr>
              <a:t>High-quality within a listener-speaker dyad is associated with higher intimacy and helping behavior (Kluger et al. 2021).</a:t>
            </a:r>
          </a:p>
          <a:p>
            <a:pPr marL="0" indent="0">
              <a:buNone/>
            </a:pPr>
            <a:r>
              <a:rPr lang="en-US" sz="1800" b="1" dirty="0" smtClean="0"/>
              <a:t>Feeling listened to increases speakers’ psychological safety and creativity (</a:t>
            </a:r>
            <a:r>
              <a:rPr lang="en-US" sz="1800" b="1" dirty="0"/>
              <a:t>Castro, </a:t>
            </a:r>
            <a:r>
              <a:rPr lang="en-US" sz="1800" b="1" dirty="0" err="1" smtClean="0"/>
              <a:t>Anseel</a:t>
            </a:r>
            <a:r>
              <a:rPr lang="en-US" sz="1800" b="1" dirty="0" smtClean="0"/>
              <a:t>, Kluger</a:t>
            </a:r>
            <a:r>
              <a:rPr lang="en-US" sz="1800" b="1" dirty="0"/>
              <a:t>, </a:t>
            </a:r>
            <a:r>
              <a:rPr lang="en-US" sz="1800" b="1" dirty="0" smtClean="0"/>
              <a:t>Lloyd</a:t>
            </a:r>
            <a:r>
              <a:rPr lang="en-US" sz="1800" b="1" dirty="0"/>
              <a:t>, </a:t>
            </a:r>
            <a:r>
              <a:rPr lang="en-US" sz="1800" b="1" dirty="0" smtClean="0"/>
              <a:t>Turjeman-Levi, 2018</a:t>
            </a:r>
            <a:r>
              <a:rPr lang="en-US" sz="1800" b="1" dirty="0"/>
              <a:t>). </a:t>
            </a:r>
            <a:endParaRPr lang="en-US" sz="1800" b="1" dirty="0" smtClean="0"/>
          </a:p>
          <a:p>
            <a:pPr marL="0" indent="0">
              <a:buNone/>
            </a:pPr>
            <a:r>
              <a:rPr lang="en-US" sz="1800" b="1" dirty="0" smtClean="0">
                <a:solidFill>
                  <a:srgbClr val="7030A0"/>
                </a:solidFill>
              </a:rPr>
              <a:t>High-quality listening reduces speakers’ prejudiced attitudes (Itzchakov, Weinstein, Legate &amp; Amar, 2020). </a:t>
            </a:r>
          </a:p>
          <a:p>
            <a:pPr marL="0" indent="0">
              <a:buNone/>
            </a:pPr>
            <a:r>
              <a:rPr lang="en-US" sz="1800" b="1" dirty="0" smtClean="0"/>
              <a:t>Employees who participated in listening training programs feel more connected to their colleagues, reported less burnout (Itzchakov, Weinstein &amp; </a:t>
            </a:r>
            <a:r>
              <a:rPr lang="en-US" sz="1800" b="1" dirty="0" err="1" smtClean="0"/>
              <a:t>Cheshin</a:t>
            </a:r>
            <a:r>
              <a:rPr lang="en-US" sz="1800" b="1" dirty="0" smtClean="0"/>
              <a:t>, 2021), and less extreme attitudes toward work-relevant topics (Itzchakov &amp; Kluger, 2017). </a:t>
            </a:r>
          </a:p>
          <a:p>
            <a:pPr marL="0" indent="0">
              <a:buNone/>
            </a:pPr>
            <a:r>
              <a:rPr lang="en-US" sz="1800" b="1" dirty="0" smtClean="0">
                <a:solidFill>
                  <a:srgbClr val="7030A0"/>
                </a:solidFill>
              </a:rPr>
              <a:t>High-quality listening increases speakers reflective self-awareness and attitude clarity (Itzchakov, </a:t>
            </a:r>
            <a:r>
              <a:rPr lang="en-US" sz="1800" b="1" dirty="0" err="1" smtClean="0">
                <a:solidFill>
                  <a:srgbClr val="7030A0"/>
                </a:solidFill>
              </a:rPr>
              <a:t>DeMarree</a:t>
            </a:r>
            <a:r>
              <a:rPr lang="en-US" sz="1800" b="1" dirty="0" smtClean="0">
                <a:solidFill>
                  <a:srgbClr val="7030A0"/>
                </a:solidFill>
              </a:rPr>
              <a:t>, Kluger Turjeman-Levi, 2018). </a:t>
            </a:r>
          </a:p>
          <a:p>
            <a:pPr marL="0" indent="0">
              <a:buNone/>
            </a:pPr>
            <a:r>
              <a:rPr lang="en-US" sz="1800" b="1" dirty="0" smtClean="0"/>
              <a:t>A listening training program for inmates promoted listeners’ well-being, sense of meaning, and purpose, empowered them, and provided a positive shift in identity (Perrin &amp; Blagden 2014).</a:t>
            </a:r>
            <a:endParaRPr lang="en-US" sz="1800" b="1" dirty="0" smtClean="0">
              <a:solidFill>
                <a:srgbClr val="7030A0"/>
              </a:solidFill>
            </a:endParaRPr>
          </a:p>
          <a:p>
            <a:pPr marL="0" indent="0">
              <a:buNone/>
            </a:pPr>
            <a:endParaRPr lang="en-US" sz="1800" b="1" dirty="0"/>
          </a:p>
          <a:p>
            <a:pPr marL="0" indent="0">
              <a:buNone/>
            </a:pPr>
            <a:endParaRPr lang="en-US" sz="1800" b="1" dirty="0" smtClean="0"/>
          </a:p>
          <a:p>
            <a:pPr marL="0" indent="0">
              <a:buNone/>
            </a:pPr>
            <a:endParaRPr lang="en-US" sz="1800" b="1" dirty="0" smtClean="0">
              <a:solidFill>
                <a:srgbClr val="FF0000"/>
              </a:solidFill>
            </a:endParaRPr>
          </a:p>
          <a:p>
            <a:pPr marL="0" indent="0">
              <a:buNone/>
            </a:pPr>
            <a:endParaRPr lang="en-US" sz="1800" b="1" dirty="0" smtClean="0"/>
          </a:p>
          <a:p>
            <a:pPr marL="0" indent="0">
              <a:buNone/>
            </a:pPr>
            <a:endParaRPr lang="en-US" sz="1600" b="1" dirty="0">
              <a:solidFill>
                <a:srgbClr val="7030A0"/>
              </a:solidFill>
            </a:endParaRPr>
          </a:p>
          <a:p>
            <a:pPr marL="0" indent="0">
              <a:buNone/>
            </a:pPr>
            <a:endParaRPr lang="en-US" sz="1600" dirty="0"/>
          </a:p>
          <a:p>
            <a:endParaRPr lang="en-US" sz="2000" dirty="0"/>
          </a:p>
        </p:txBody>
      </p:sp>
    </p:spTree>
    <p:extLst>
      <p:ext uri="{BB962C8B-B14F-4D97-AF65-F5344CB8AC3E}">
        <p14:creationId xmlns:p14="http://schemas.microsoft.com/office/powerpoint/2010/main" val="3176837617"/>
      </p:ext>
    </p:extLst>
  </p:cSld>
  <p:clrMapOvr>
    <a:masterClrMapping/>
  </p:clrMapOvr>
  <p:transition spd="slow">
    <p:fade thruBlk="1"/>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3771"/>
            <a:ext cx="11871569" cy="1325563"/>
          </a:xfrm>
        </p:spPr>
        <p:txBody>
          <a:bodyPr>
            <a:normAutofit/>
          </a:bodyPr>
          <a:lstStyle/>
          <a:p>
            <a:pPr algn="ctr"/>
            <a:r>
              <a:rPr lang="en-US" sz="2800" b="1" dirty="0">
                <a:solidFill>
                  <a:srgbClr val="FF0000"/>
                </a:solidFill>
                <a:latin typeface="Arial Black" panose="020B0A04020102020204" pitchFamily="34" charset="0"/>
              </a:rPr>
              <a:t>Why is listening relevant to human flourishing? </a:t>
            </a:r>
            <a:br>
              <a:rPr lang="en-US" sz="2800" b="1" dirty="0">
                <a:solidFill>
                  <a:srgbClr val="FF0000"/>
                </a:solidFill>
                <a:latin typeface="Arial Black" panose="020B0A04020102020204" pitchFamily="34" charset="0"/>
              </a:rPr>
            </a:br>
            <a:r>
              <a:rPr lang="en-US" sz="2800" b="1" dirty="0">
                <a:solidFill>
                  <a:srgbClr val="FF0000"/>
                </a:solidFill>
                <a:latin typeface="Arial Black" panose="020B0A04020102020204" pitchFamily="34" charset="0"/>
              </a:rPr>
              <a:t>(some) evidence </a:t>
            </a:r>
            <a:endParaRPr lang="en-US" sz="2800" dirty="0"/>
          </a:p>
        </p:txBody>
      </p:sp>
      <p:sp>
        <p:nvSpPr>
          <p:cNvPr id="3" name="Content Placeholder 2"/>
          <p:cNvSpPr>
            <a:spLocks noGrp="1"/>
          </p:cNvSpPr>
          <p:nvPr>
            <p:ph idx="1"/>
          </p:nvPr>
        </p:nvSpPr>
        <p:spPr>
          <a:xfrm>
            <a:off x="93785" y="1320800"/>
            <a:ext cx="11902830" cy="5345723"/>
          </a:xfrm>
        </p:spPr>
        <p:txBody>
          <a:bodyPr>
            <a:normAutofit/>
          </a:bodyPr>
          <a:lstStyle/>
          <a:p>
            <a:pPr marL="0" indent="0">
              <a:buNone/>
            </a:pPr>
            <a:r>
              <a:rPr lang="en-US" sz="1800" b="1" dirty="0"/>
              <a:t>C</a:t>
            </a:r>
            <a:r>
              <a:rPr lang="en-US" sz="1800" b="1" dirty="0" smtClean="0"/>
              <a:t>hronic disease sufferers </a:t>
            </a:r>
            <a:r>
              <a:rPr lang="en-US" sz="1800" b="1" dirty="0"/>
              <a:t>who were trained to support their peers through </a:t>
            </a:r>
            <a:r>
              <a:rPr lang="en-US" sz="1800" b="1" dirty="0" smtClean="0"/>
              <a:t>listening </a:t>
            </a:r>
            <a:r>
              <a:rPr lang="en-US" sz="1800" b="1" dirty="0"/>
              <a:t>reported a significant improvement in </a:t>
            </a:r>
            <a:r>
              <a:rPr lang="en-US" sz="1800" b="1" dirty="0" smtClean="0"/>
              <a:t>self-esteem, </a:t>
            </a:r>
            <a:r>
              <a:rPr lang="en-US" sz="1800" b="1" dirty="0"/>
              <a:t>with </a:t>
            </a:r>
            <a:r>
              <a:rPr lang="en-US" sz="1800" b="1" dirty="0" smtClean="0"/>
              <a:t>stronger </a:t>
            </a:r>
            <a:r>
              <a:rPr lang="en-US" sz="1800" b="1" dirty="0"/>
              <a:t>effects for the trained listeners than those who received their support (Schwartz &amp; </a:t>
            </a:r>
            <a:r>
              <a:rPr lang="en-US" sz="1800" b="1" dirty="0" err="1"/>
              <a:t>Sendor</a:t>
            </a:r>
            <a:r>
              <a:rPr lang="en-US" sz="1800" b="1" dirty="0"/>
              <a:t>, 1999</a:t>
            </a:r>
            <a:r>
              <a:rPr lang="en-US" sz="1800" b="1" dirty="0" smtClean="0"/>
              <a:t>).</a:t>
            </a:r>
          </a:p>
          <a:p>
            <a:pPr marL="0" indent="0">
              <a:buNone/>
            </a:pPr>
            <a:r>
              <a:rPr lang="en-US" sz="1800" b="1" dirty="0" smtClean="0">
                <a:solidFill>
                  <a:srgbClr val="7030A0"/>
                </a:solidFill>
              </a:rPr>
              <a:t>Speakers who received high-quality listening experienced less (state) social anxiety and defensiveness when sharing their attitudes (Itzchakov, Kluger &amp; Castro, 2017).</a:t>
            </a:r>
          </a:p>
          <a:p>
            <a:pPr marL="0" indent="0">
              <a:buNone/>
            </a:pPr>
            <a:r>
              <a:rPr lang="en-US" sz="1800" b="1" dirty="0" smtClean="0"/>
              <a:t>Customer service employees who participated in listening training reported feeling a higher sense of competence when having difficult conversations with customers (Itzchakov, 2020). </a:t>
            </a:r>
          </a:p>
          <a:p>
            <a:pPr marL="0" indent="0">
              <a:buNone/>
            </a:pPr>
            <a:r>
              <a:rPr lang="en-US" sz="1800" b="1" dirty="0" smtClean="0">
                <a:solidFill>
                  <a:srgbClr val="7030A0"/>
                </a:solidFill>
              </a:rPr>
              <a:t>Listening is positively associated with relational satisfaction, as reported by customers, patients, and employees. Customers’ ratings of their salesperson’s listening correlated with their satisfaction with the salesperson (Aggarwal et al. 2005).</a:t>
            </a:r>
          </a:p>
          <a:p>
            <a:pPr marL="0" indent="0">
              <a:buNone/>
            </a:pPr>
            <a:r>
              <a:rPr lang="en-US" sz="1800" b="1" dirty="0" smtClean="0"/>
              <a:t>Feeling listened to predicts higher trust in the listener (Bergeron &amp; </a:t>
            </a:r>
            <a:r>
              <a:rPr lang="en-US" sz="1800" b="1" dirty="0" err="1" smtClean="0"/>
              <a:t>Laroche</a:t>
            </a:r>
            <a:r>
              <a:rPr lang="en-US" sz="1800" b="1" dirty="0" smtClean="0"/>
              <a:t> 2009; </a:t>
            </a:r>
            <a:r>
              <a:rPr lang="en-US" sz="1800" b="1" dirty="0" err="1" smtClean="0"/>
              <a:t>Korsgaard</a:t>
            </a:r>
            <a:r>
              <a:rPr lang="en-US" sz="1800" b="1" dirty="0" smtClean="0"/>
              <a:t> et al. 1995; Stine et al. 1995).</a:t>
            </a:r>
          </a:p>
          <a:p>
            <a:pPr marL="0" indent="0">
              <a:buNone/>
            </a:pPr>
            <a:r>
              <a:rPr lang="en-US" sz="1800" b="1" dirty="0">
                <a:solidFill>
                  <a:srgbClr val="7030A0"/>
                </a:solidFill>
              </a:rPr>
              <a:t>N</a:t>
            </a:r>
            <a:r>
              <a:rPr lang="en-US" sz="1800" b="1" dirty="0" smtClean="0">
                <a:solidFill>
                  <a:srgbClr val="7030A0"/>
                </a:solidFill>
              </a:rPr>
              <a:t>urses’ perceptions of their manager’s listening were positively correlated with their self-efficacy and sense of empowerment (</a:t>
            </a:r>
            <a:r>
              <a:rPr lang="en-US" sz="1800" b="1" dirty="0" err="1" smtClean="0">
                <a:solidFill>
                  <a:srgbClr val="7030A0"/>
                </a:solidFill>
              </a:rPr>
              <a:t>Tangirala</a:t>
            </a:r>
            <a:r>
              <a:rPr lang="en-US" sz="1800" b="1" dirty="0" smtClean="0">
                <a:solidFill>
                  <a:srgbClr val="7030A0"/>
                </a:solidFill>
              </a:rPr>
              <a:t> &amp; </a:t>
            </a:r>
            <a:r>
              <a:rPr lang="en-US" sz="1800" b="1" dirty="0" err="1" smtClean="0">
                <a:solidFill>
                  <a:srgbClr val="7030A0"/>
                </a:solidFill>
              </a:rPr>
              <a:t>Ramanujam</a:t>
            </a:r>
            <a:r>
              <a:rPr lang="en-US" sz="1800" b="1" dirty="0" smtClean="0">
                <a:solidFill>
                  <a:srgbClr val="7030A0"/>
                </a:solidFill>
              </a:rPr>
              <a:t> 2012). </a:t>
            </a:r>
          </a:p>
          <a:p>
            <a:pPr marL="0" indent="0">
              <a:buNone/>
            </a:pPr>
            <a:r>
              <a:rPr lang="en-US" sz="1800" b="1" dirty="0"/>
              <a:t>C</a:t>
            </a:r>
            <a:r>
              <a:rPr lang="en-US" sz="1800" b="1" dirty="0" smtClean="0"/>
              <a:t>aregivers of patients with terminal illnesses who reported that the physicians listened to their needs and views about the patient’s illness or medical treatment were less depressed than those who said they did not listen (Emanuel et al., 2000).</a:t>
            </a:r>
            <a:endParaRPr lang="en-US" sz="1800" b="1" dirty="0"/>
          </a:p>
          <a:p>
            <a:pPr marL="0" indent="0">
              <a:buNone/>
            </a:pPr>
            <a:r>
              <a:rPr lang="en-US" sz="1800" b="1" dirty="0" smtClean="0">
                <a:solidFill>
                  <a:srgbClr val="7030A0"/>
                </a:solidFill>
              </a:rPr>
              <a:t>Japanese employees who worked under managers with strong listening skills reported less stress than employees whose managers had weak listening skills (</a:t>
            </a:r>
            <a:r>
              <a:rPr lang="en-US" sz="1800" b="1" dirty="0" err="1" smtClean="0">
                <a:solidFill>
                  <a:srgbClr val="7030A0"/>
                </a:solidFill>
              </a:rPr>
              <a:t>Mineyama</a:t>
            </a:r>
            <a:r>
              <a:rPr lang="en-US" sz="1800" b="1" dirty="0" smtClean="0">
                <a:solidFill>
                  <a:srgbClr val="7030A0"/>
                </a:solidFill>
              </a:rPr>
              <a:t> et al., 2007).</a:t>
            </a:r>
            <a:endParaRPr lang="en-US" sz="1800" b="1" dirty="0">
              <a:solidFill>
                <a:srgbClr val="7030A0"/>
              </a:solidFill>
            </a:endParaRPr>
          </a:p>
          <a:p>
            <a:pPr marL="0" indent="0">
              <a:buNone/>
            </a:pPr>
            <a:endParaRPr lang="en-US" sz="1800" b="1" dirty="0">
              <a:solidFill>
                <a:srgbClr val="7030A0"/>
              </a:solidFill>
            </a:endParaRPr>
          </a:p>
          <a:p>
            <a:pPr marL="0" indent="0">
              <a:buNone/>
            </a:pPr>
            <a:endParaRPr lang="en-US" sz="1800" b="1" dirty="0"/>
          </a:p>
        </p:txBody>
      </p:sp>
    </p:spTree>
    <p:extLst>
      <p:ext uri="{BB962C8B-B14F-4D97-AF65-F5344CB8AC3E}">
        <p14:creationId xmlns:p14="http://schemas.microsoft.com/office/powerpoint/2010/main" val="1278798069"/>
      </p:ext>
    </p:extLst>
  </p:cSld>
  <p:clrMapOvr>
    <a:masterClrMapping/>
  </p:clrMapOvr>
  <p:transition spd="slow">
    <p:fade thruBlk="1"/>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1234" y="757543"/>
            <a:ext cx="9601196" cy="1303867"/>
          </a:xfrm>
        </p:spPr>
        <p:txBody>
          <a:bodyPr/>
          <a:lstStyle/>
          <a:p>
            <a:r>
              <a:rPr lang="en-US" b="1" dirty="0" smtClean="0">
                <a:solidFill>
                  <a:srgbClr val="7030A0"/>
                </a:solidFill>
              </a:rPr>
              <a:t>Theoretical Enemies </a:t>
            </a:r>
            <a:endParaRPr lang="en-US" b="1" dirty="0">
              <a:solidFill>
                <a:srgbClr val="7030A0"/>
              </a:solidFill>
            </a:endParaRPr>
          </a:p>
        </p:txBody>
      </p:sp>
      <p:sp>
        <p:nvSpPr>
          <p:cNvPr id="3" name="Content Placeholder 2"/>
          <p:cNvSpPr>
            <a:spLocks noGrp="1"/>
          </p:cNvSpPr>
          <p:nvPr>
            <p:ph idx="1"/>
          </p:nvPr>
        </p:nvSpPr>
        <p:spPr/>
        <p:txBody>
          <a:bodyPr/>
          <a:lstStyle/>
          <a:p>
            <a:pPr marL="457200" indent="-457200">
              <a:buAutoNum type="arabicPeriod"/>
            </a:pPr>
            <a:r>
              <a:rPr lang="en-US" dirty="0" smtClean="0"/>
              <a:t>Fear of Intimacy (Avoidance attachment style)</a:t>
            </a:r>
          </a:p>
          <a:p>
            <a:pPr marL="457200" indent="-457200">
              <a:buAutoNum type="arabicPeriod"/>
            </a:pPr>
            <a:r>
              <a:rPr lang="en-US" dirty="0" smtClean="0"/>
              <a:t>Costs (Time, energy, compassion fatigue, stress). </a:t>
            </a:r>
          </a:p>
          <a:p>
            <a:pPr marL="457200" indent="-457200">
              <a:buAutoNum type="arabicPeriod"/>
            </a:pPr>
            <a:r>
              <a:rPr lang="en-US" dirty="0" smtClean="0"/>
              <a:t>Resistance to change </a:t>
            </a:r>
          </a:p>
          <a:p>
            <a:pPr marL="457200" indent="-457200">
              <a:buAutoNum type="arabicPeriod"/>
            </a:pPr>
            <a:r>
              <a:rPr lang="en-US" dirty="0" smtClean="0"/>
              <a:t>Loss of power </a:t>
            </a:r>
          </a:p>
          <a:p>
            <a:pPr marL="457200" indent="-457200">
              <a:buAutoNum type="arabicPeriod"/>
            </a:pPr>
            <a:r>
              <a:rPr lang="en-US" dirty="0" smtClean="0"/>
              <a:t>Secondary trauma</a:t>
            </a:r>
          </a:p>
          <a:p>
            <a:pPr marL="457200" indent="-457200">
              <a:buAutoNum type="arabicPeriod"/>
            </a:pPr>
            <a:r>
              <a:rPr lang="en-US" dirty="0" smtClean="0"/>
              <a:t>How is listening perceived in different cultures? (no research)</a:t>
            </a:r>
            <a:endParaRPr lang="he-IL" dirty="0" smtClean="0"/>
          </a:p>
          <a:p>
            <a:pPr marL="0" indent="0">
              <a:buNone/>
            </a:pPr>
            <a:endParaRPr lang="en-US" dirty="0"/>
          </a:p>
          <a:p>
            <a:pPr marL="457200" indent="-457200">
              <a:buAutoNum type="arabicPeriod"/>
            </a:pP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30062" y="5799221"/>
            <a:ext cx="2261937" cy="1058779"/>
          </a:xfrm>
          <a:prstGeom prst="rect">
            <a:avLst/>
          </a:prstGeom>
        </p:spPr>
      </p:pic>
    </p:spTree>
    <p:extLst>
      <p:ext uri="{BB962C8B-B14F-4D97-AF65-F5344CB8AC3E}">
        <p14:creationId xmlns:p14="http://schemas.microsoft.com/office/powerpoint/2010/main" val="3597181227"/>
      </p:ext>
    </p:extLst>
  </p:cSld>
  <p:clrMapOvr>
    <a:masterClrMapping/>
  </p:clrMapOvr>
  <p:transition spd="slow">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784" y="75958"/>
            <a:ext cx="11973169" cy="1135428"/>
          </a:xfrm>
        </p:spPr>
        <p:txBody>
          <a:bodyPr>
            <a:normAutofit/>
          </a:bodyPr>
          <a:lstStyle/>
          <a:p>
            <a:pPr algn="ctr"/>
            <a:r>
              <a:rPr lang="en-US" sz="3200" b="1" dirty="0">
                <a:solidFill>
                  <a:srgbClr val="FF0000"/>
                </a:solidFill>
                <a:latin typeface="Arial Black" panose="020B0A04020102020204" pitchFamily="34" charset="0"/>
              </a:rPr>
              <a:t>Important unanswered questions for us to consider  </a:t>
            </a:r>
          </a:p>
        </p:txBody>
      </p:sp>
      <p:sp>
        <p:nvSpPr>
          <p:cNvPr id="3" name="Content Placeholder 2"/>
          <p:cNvSpPr>
            <a:spLocks noGrp="1"/>
          </p:cNvSpPr>
          <p:nvPr>
            <p:ph idx="1"/>
          </p:nvPr>
        </p:nvSpPr>
        <p:spPr>
          <a:xfrm>
            <a:off x="144584" y="1133232"/>
            <a:ext cx="11871570" cy="5072184"/>
          </a:xfrm>
        </p:spPr>
        <p:txBody>
          <a:bodyPr>
            <a:noAutofit/>
          </a:bodyPr>
          <a:lstStyle/>
          <a:p>
            <a:pPr marL="0" indent="0">
              <a:buNone/>
            </a:pPr>
            <a:endParaRPr lang="en-US" sz="2400" b="1" dirty="0" smtClean="0"/>
          </a:p>
          <a:p>
            <a:pPr marL="0" indent="0">
              <a:buNone/>
            </a:pPr>
            <a:r>
              <a:rPr lang="en-US" sz="2400" b="1" dirty="0" smtClean="0"/>
              <a:t>1. Can listening promote diversity, equity, and inclusion in society? If so, how? </a:t>
            </a:r>
          </a:p>
          <a:p>
            <a:pPr marL="0" indent="0">
              <a:buNone/>
            </a:pPr>
            <a:r>
              <a:rPr lang="en-US" sz="2400" b="1" dirty="0" smtClean="0">
                <a:solidFill>
                  <a:srgbClr val="7030A0"/>
                </a:solidFill>
              </a:rPr>
              <a:t>2. How is listening perceived across cultures, and how can it influence human flourishing, especially in non-Western cultures?</a:t>
            </a:r>
          </a:p>
          <a:p>
            <a:pPr marL="0" indent="0">
              <a:buNone/>
            </a:pPr>
            <a:r>
              <a:rPr lang="en-US" sz="2400" b="1" dirty="0" smtClean="0"/>
              <a:t>3. How can listeners overcome their initial judgments when they need to listen to a speaker toward whom they hold a stereotype? </a:t>
            </a:r>
          </a:p>
          <a:p>
            <a:pPr marL="0" indent="0">
              <a:buNone/>
            </a:pPr>
            <a:r>
              <a:rPr lang="en-US" sz="2400" b="1" dirty="0" smtClean="0">
                <a:solidFill>
                  <a:srgbClr val="7030A0"/>
                </a:solidFill>
              </a:rPr>
              <a:t>4. Can individuals participating in listening training programs become positive social agents in society?</a:t>
            </a:r>
          </a:p>
          <a:p>
            <a:pPr marL="0" indent="0">
              <a:buNone/>
            </a:pPr>
            <a:r>
              <a:rPr lang="en-US" sz="2400" b="1" dirty="0" smtClean="0">
                <a:solidFill>
                  <a:schemeClr val="accent4">
                    <a:lumMod val="75000"/>
                  </a:schemeClr>
                </a:solidFill>
              </a:rPr>
              <a:t>5. What do I tell my wife when she complains I don’t listen to her? (a longstanding question) </a:t>
            </a:r>
          </a:p>
          <a:p>
            <a:pPr marL="0" indent="0">
              <a:buNone/>
            </a:pPr>
            <a:endParaRPr lang="en-US" sz="2400" b="1" dirty="0">
              <a:solidFill>
                <a:srgbClr val="7030A0"/>
              </a:solidFill>
            </a:endParaRPr>
          </a:p>
          <a:p>
            <a:pPr marL="0" indent="0">
              <a:buNone/>
            </a:pPr>
            <a:r>
              <a:rPr lang="en-US" b="1" dirty="0" smtClean="0">
                <a:solidFill>
                  <a:schemeClr val="accent6">
                    <a:lumMod val="50000"/>
                  </a:schemeClr>
                </a:solidFill>
              </a:rPr>
              <a:t>AND…. Many more issues which we will talk about (and listen to) during this workshop </a:t>
            </a:r>
            <a:r>
              <a:rPr lang="en-US" b="1" dirty="0" smtClean="0">
                <a:solidFill>
                  <a:schemeClr val="accent6">
                    <a:lumMod val="50000"/>
                  </a:schemeClr>
                </a:solidFill>
                <a:sym typeface="Wingdings" panose="05000000000000000000" pitchFamily="2" charset="2"/>
              </a:rPr>
              <a:t> </a:t>
            </a:r>
            <a:endParaRPr lang="en-US" b="1" dirty="0" smtClean="0">
              <a:solidFill>
                <a:schemeClr val="accent6">
                  <a:lumMod val="50000"/>
                </a:schemeClr>
              </a:solidFill>
            </a:endParaRPr>
          </a:p>
          <a:p>
            <a:pPr marL="0" indent="0">
              <a:buNone/>
            </a:pPr>
            <a:endParaRPr lang="en-US" sz="2400" b="1" dirty="0">
              <a:solidFill>
                <a:srgbClr val="7030A0"/>
              </a:solidFill>
            </a:endParaRPr>
          </a:p>
          <a:p>
            <a:pPr marL="0" indent="0">
              <a:buNone/>
            </a:pPr>
            <a:endParaRPr lang="en-US" sz="2400" b="1" dirty="0" smtClean="0"/>
          </a:p>
          <a:p>
            <a:pPr marL="0" indent="0">
              <a:buNone/>
            </a:pPr>
            <a:endParaRPr lang="en-US" sz="2400" b="1" dirty="0"/>
          </a:p>
          <a:p>
            <a:pPr marL="0" indent="0">
              <a:buNone/>
            </a:pPr>
            <a:endParaRPr lang="en-US" sz="2400" b="1" dirty="0" smtClean="0"/>
          </a:p>
          <a:p>
            <a:pPr marL="0" indent="0">
              <a:buNone/>
            </a:pPr>
            <a:r>
              <a:rPr lang="en-US" sz="2400" b="1" dirty="0" smtClean="0">
                <a:solidFill>
                  <a:srgbClr val="002060"/>
                </a:solidFill>
              </a:rPr>
              <a:t> </a:t>
            </a:r>
            <a:endParaRPr lang="en-US" sz="2400" b="1" dirty="0">
              <a:solidFill>
                <a:srgbClr val="002060"/>
              </a:solidFill>
            </a:endParaRPr>
          </a:p>
        </p:txBody>
      </p:sp>
    </p:spTree>
    <p:extLst>
      <p:ext uri="{BB962C8B-B14F-4D97-AF65-F5344CB8AC3E}">
        <p14:creationId xmlns:p14="http://schemas.microsoft.com/office/powerpoint/2010/main" val="943205683"/>
      </p:ext>
    </p:extLst>
  </p:cSld>
  <p:clrMapOvr>
    <a:masterClrMapping/>
  </p:clrMapOvr>
  <p:transition spd="slow">
    <p:fade thruBlk="1"/>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hlinkClick r:id="rId2"/>
              </a:rPr>
              <a:t>https://www.youtube.com/watch?v=ZprdmeC7u9k&amp;t=115s</a:t>
            </a:r>
            <a:endParaRPr lang="en-US" dirty="0"/>
          </a:p>
        </p:txBody>
      </p:sp>
    </p:spTree>
    <p:extLst>
      <p:ext uri="{BB962C8B-B14F-4D97-AF65-F5344CB8AC3E}">
        <p14:creationId xmlns:p14="http://schemas.microsoft.com/office/powerpoint/2010/main" val="1209433108"/>
      </p:ext>
    </p:extLst>
  </p:cSld>
  <p:clrMapOvr>
    <a:masterClrMapping/>
  </p:clrMapOvr>
  <p:transition spd="slow">
    <p:fade thruBlk="1"/>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32850" y="1412875"/>
            <a:ext cx="5926300" cy="2211388"/>
          </a:xfrm>
        </p:spPr>
      </p:pic>
    </p:spTree>
    <p:extLst>
      <p:ext uri="{BB962C8B-B14F-4D97-AF65-F5344CB8AC3E}">
        <p14:creationId xmlns:p14="http://schemas.microsoft.com/office/powerpoint/2010/main" val="3462794250"/>
      </p:ext>
    </p:extLst>
  </p:cSld>
  <p:clrMapOvr>
    <a:masterClrMapping/>
  </p:clrMapOvr>
  <p:transition spd="slow">
    <p:fade thruBlk="1"/>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A83941A0029C343B32EE2E1BA3856D4" ma:contentTypeVersion="17" ma:contentTypeDescription="Create a new document." ma:contentTypeScope="" ma:versionID="4245fb103d886ba2bb1a83c6ebe2c366">
  <xsd:schema xmlns:xsd="http://www.w3.org/2001/XMLSchema" xmlns:xs="http://www.w3.org/2001/XMLSchema" xmlns:p="http://schemas.microsoft.com/office/2006/metadata/properties" xmlns:ns2="136e957d-1c57-4495-b34e-623ac9045f77" xmlns:ns3="7ef26fbd-b7f6-40c5-babb-cfe0363c2294" targetNamespace="http://schemas.microsoft.com/office/2006/metadata/properties" ma:root="true" ma:fieldsID="3cce33d2129c6eaadd43e34cd443743b" ns2:_="" ns3:_="">
    <xsd:import namespace="136e957d-1c57-4495-b34e-623ac9045f77"/>
    <xsd:import namespace="7ef26fbd-b7f6-40c5-babb-cfe0363c229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DateTaken"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6e957d-1c57-4495-b34e-623ac9045f7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7306b285-ac2c-4225-b56d-e54690cf9c97" ma:termSetId="09814cd3-568e-fe90-9814-8d621ff8fb84" ma:anchorId="fba54fb3-c3e1-fe81-a776-ca4b69148c4d" ma:open="true" ma:isKeyword="false">
      <xsd:complexType>
        <xsd:sequence>
          <xsd:element ref="pc:Terms" minOccurs="0" maxOccurs="1"/>
        </xsd:sequence>
      </xsd:complexType>
    </xsd:element>
    <xsd:element name="MediaServiceDateTaken" ma:index="21" nillable="true" ma:displayName="MediaServiceDateTaken" ma:hidden="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ef26fbd-b7f6-40c5-babb-cfe0363c2294"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bdf15860-492d-4e52-887e-317c9c8d7ff8}" ma:internalName="TaxCatchAll" ma:showField="CatchAllData" ma:web="7ef26fbd-b7f6-40c5-babb-cfe0363c229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36e957d-1c57-4495-b34e-623ac9045f77">
      <Terms xmlns="http://schemas.microsoft.com/office/infopath/2007/PartnerControls"/>
    </lcf76f155ced4ddcb4097134ff3c332f>
    <TaxCatchAll xmlns="7ef26fbd-b7f6-40c5-babb-cfe0363c2294" xsi:nil="true"/>
  </documentManagement>
</p:properties>
</file>

<file path=customXml/itemProps1.xml><?xml version="1.0" encoding="utf-8"?>
<ds:datastoreItem xmlns:ds="http://schemas.openxmlformats.org/officeDocument/2006/customXml" ds:itemID="{1A1DD499-3031-43D7-AB6A-6321ED98DB4A}"/>
</file>

<file path=customXml/itemProps2.xml><?xml version="1.0" encoding="utf-8"?>
<ds:datastoreItem xmlns:ds="http://schemas.openxmlformats.org/officeDocument/2006/customXml" ds:itemID="{4A75BAB1-7C14-4635-9087-FA46EDB28571}"/>
</file>

<file path=customXml/itemProps3.xml><?xml version="1.0" encoding="utf-8"?>
<ds:datastoreItem xmlns:ds="http://schemas.openxmlformats.org/officeDocument/2006/customXml" ds:itemID="{7A641C51-06FE-476A-A9D5-112DB8855DFF}"/>
</file>

<file path=docProps/app.xml><?xml version="1.0" encoding="utf-8"?>
<Properties xmlns="http://schemas.openxmlformats.org/officeDocument/2006/extended-properties" xmlns:vt="http://schemas.openxmlformats.org/officeDocument/2006/docPropsVTypes">
  <TotalTime>567</TotalTime>
  <Words>828</Words>
  <Application>Microsoft Office PowerPoint</Application>
  <PresentationFormat>Widescreen</PresentationFormat>
  <Paragraphs>61</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Arial Black</vt:lpstr>
      <vt:lpstr>Calibri</vt:lpstr>
      <vt:lpstr>Calibri Light</vt:lpstr>
      <vt:lpstr>David</vt:lpstr>
      <vt:lpstr>Wingdings</vt:lpstr>
      <vt:lpstr>Office Theme</vt:lpstr>
      <vt:lpstr>An Overview of Listening Research  Prof. Guy Itzchakov University of Haifa   </vt:lpstr>
      <vt:lpstr>(Correcting) Misperceptions </vt:lpstr>
      <vt:lpstr>Listening: Holistic yet complex</vt:lpstr>
      <vt:lpstr>Why is listening relevant to human flourishing?  (some) evidence </vt:lpstr>
      <vt:lpstr>Why is listening relevant to human flourishing?  (some) evidence </vt:lpstr>
      <vt:lpstr>Theoretical Enemies </vt:lpstr>
      <vt:lpstr>Important unanswered questions for us to consider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workshop and its goals</dc:title>
  <dc:creator>גיא יצחקוב</dc:creator>
  <cp:lastModifiedBy>גיא יצחקוב</cp:lastModifiedBy>
  <cp:revision>40</cp:revision>
  <dcterms:created xsi:type="dcterms:W3CDTF">2022-11-25T21:25:47Z</dcterms:created>
  <dcterms:modified xsi:type="dcterms:W3CDTF">2023-04-30T13:57:13Z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0x010100FA83941A0029C343B32EE2E1BA3856D4</vt:lpwstr>
  </property>
</Properties>
</file>